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https://en.wikipedia.org/wiki/Comb_sort
- https://www.geeksforgeeks.org/dsa/comb-sort/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https://docs.python.org/3/library/time.html
- https://docs.python.org/3/library/timeit.html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https://en.wikipedia.org/wiki/Comb_sort
- https://www.geeksforgeeks.org/dsa/comb-sort/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https://en.wikipedia.org/wiki/Comb_sort
- https://www.geeksforgeeks.org/dsa/comb-sort/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https://docs.python.org/3/library/time.html
- https://en.wikipedia.org/wiki/Comb_sort
- https://www.geeksforgeeks.org/dsa/comb-sort/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Семестровая работа №2 • Алгоритм сортировки Comb sort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875520" y="64190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АИСД • Python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201168"/>
            <a:ext cx="4279392" cy="6656832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8412480" y="1097280"/>
            <a:ext cx="2560320" cy="25603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20000">
            <a:off x="9875520" y="3977640"/>
            <a:ext cx="1234440" cy="1234440"/>
          </a:xfrm>
          <a:prstGeom prst="rect">
            <a:avLst/>
          </a:prstGeom>
          <a:solidFill>
            <a:srgbClr val="2AA198"/>
          </a:solidFill>
          <a:ln w="12700">
            <a:solidFill>
              <a:srgbClr val="2AA19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8200" y="4754880"/>
            <a:ext cx="2194560" cy="-1737360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5120640"/>
            <a:ext cx="1097280" cy="-1005840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1887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Семестровая работа № 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" y="18288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сортировки Comb sort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76656" y="26517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Презентация по отчёту: постановка задачи, принцип работы, реализация на Python, методика эксперимента и выводы.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" y="40690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 ____________________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Группа: ____________________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Преподаватель: ____________________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требования работы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необходимо показать в семестровой работе по варианту 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0" y="141732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</a:rPr>
              <a:t>Что реализуется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8920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Comb sort на языке Python;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наборов входных данных размером от 100 до 10 000 элементов;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 массивов в файлы и чтение данных из файлов перед сортировкой;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измерение времени выполнения без учёта чтения файлов;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подсчёт числа шагов алгоритма.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65392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</a:rPr>
              <a:t>Что должно быть в результате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65392" y="2011680"/>
            <a:ext cx="46634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результатов для всех 100 запусков;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 зависимости времени от размера массива;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 зависимости количества шагов от размера массива;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сложности алгоритма и краткое сравнение теории с практикой;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 и список источников.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 sort: идея алгоритма и краткая история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этот алгоритм быстрее обычной пузырьковой сортировки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5836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19072"/>
            <a:ext cx="5897880" cy="3886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 sort — улучшение bubble sort с уменьшающимся шагом gap.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сравниваются элементы, стоящие далеко друг от друга, поэтому «маленькие» элементы быстрее перемещаются в начало массива.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мере работы шаг уменьшается, а при gap = 1 алгоритм завершает сортировку как улучшенный bubble sort.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предложен В. Добосевичем и А. Боровы в 1980 году; в 1991 году был заново популяризирован Стивеном Лейси и Ричардом Боксом под названием Comb sort.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практике часто используют коэффициент уменьшения shrink ≈ 1.3.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43800" y="1572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</a:rPr>
              <a:t>Ключевая идея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60920" y="1874520"/>
            <a:ext cx="4160520" cy="3611880"/>
          </a:xfrm>
          <a:prstGeom prst="roundRect">
            <a:avLst>
              <a:gd name="adj" fmla="val 2025"/>
            </a:avLst>
          </a:prstGeom>
          <a:solidFill>
            <a:srgbClr val="EEF5FB"/>
          </a:solidFill>
          <a:ln w="12700">
            <a:solidFill>
              <a:srgbClr val="C9D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6680" y="2377440"/>
            <a:ext cx="475488" cy="411480"/>
          </a:xfrm>
          <a:prstGeom prst="roundRect">
            <a:avLst>
              <a:gd name="adj" fmla="val 6667"/>
            </a:avLst>
          </a:prstGeom>
          <a:solidFill>
            <a:srgbClr val="D8EAFB"/>
          </a:solidFill>
          <a:ln w="12700">
            <a:solidFill>
              <a:srgbClr val="8BA9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244144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2F"/>
                </a:solidFill>
              </a:rPr>
              <a:t>9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75320" y="2377440"/>
            <a:ext cx="475488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BA9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44144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2F"/>
                </a:solidFill>
              </a:rPr>
              <a:t>7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23960" y="2377440"/>
            <a:ext cx="475488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BA9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23960" y="244144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2F"/>
                </a:solidFill>
              </a:rPr>
              <a:t>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72600" y="2377440"/>
            <a:ext cx="475488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BA9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244144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2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921240" y="2377440"/>
            <a:ext cx="475488" cy="411480"/>
          </a:xfrm>
          <a:prstGeom prst="roundRect">
            <a:avLst>
              <a:gd name="adj" fmla="val 6667"/>
            </a:avLst>
          </a:prstGeom>
          <a:solidFill>
            <a:srgbClr val="D8EAFB"/>
          </a:solidFill>
          <a:ln w="12700">
            <a:solidFill>
              <a:srgbClr val="8BA9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244144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2F"/>
                </a:solidFill>
              </a:rPr>
              <a:t>8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469880" y="2377440"/>
            <a:ext cx="475488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BA9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69880" y="244144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2F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99248" y="315468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</a:rPr>
              <a:t>Большой шаг позволяет сравнить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</a:rPr>
              <a:t>далёкие элементы и быстрее убрать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</a:rPr>
              <a:t>«черепах» — маленькие значения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</a:rPr>
              <a:t>в конце массива.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955280" y="2816352"/>
            <a:ext cx="2240280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759952" y="2852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A261"/>
                </a:solidFill>
              </a:rPr>
              <a:t>gap &gt; 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работы алгоритма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шаги Comb sort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651760" y="2834640"/>
            <a:ext cx="1097280" cy="0"/>
          </a:xfrm>
          <a:prstGeom prst="line">
            <a:avLst/>
          </a:prstGeom>
          <a:noFill/>
          <a:ln w="12700">
            <a:solidFill>
              <a:srgbClr val="9EB7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486400" y="2834640"/>
            <a:ext cx="1097280" cy="0"/>
          </a:xfrm>
          <a:prstGeom prst="line">
            <a:avLst/>
          </a:prstGeom>
          <a:noFill/>
          <a:ln w="12700">
            <a:solidFill>
              <a:srgbClr val="9EB7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321040" y="2834640"/>
            <a:ext cx="1097280" cy="0"/>
          </a:xfrm>
          <a:prstGeom prst="line">
            <a:avLst/>
          </a:prstGeom>
          <a:noFill/>
          <a:ln w="12700">
            <a:solidFill>
              <a:srgbClr val="9EB7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" y="196596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2700">
            <a:solidFill>
              <a:srgbClr val="C7D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81"/>
                </a:solidFill>
              </a:rPr>
              <a:t>1. Начало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523744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2F"/>
                </a:solidFill>
              </a:rPr>
              <a:t>gap = 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12F"/>
                </a:solidFill>
              </a:rPr>
              <a:t>shrink = 1.3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12F"/>
                </a:solidFill>
              </a:rPr>
              <a:t>swapped = True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20440" y="196596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0F7F3"/>
          </a:solidFill>
          <a:ln w="12700">
            <a:solidFill>
              <a:srgbClr val="C7D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148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81"/>
                </a:solidFill>
              </a:rPr>
              <a:t>2. Уменьшение шага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0" y="2523744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2F"/>
                </a:solidFill>
              </a:rPr>
              <a:t>gap = int(gap / shrink)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12F"/>
                </a:solidFill>
              </a:rPr>
              <a:t>если gap &lt; 1, то gap = 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196596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5EA"/>
          </a:solidFill>
          <a:ln w="12700">
            <a:solidFill>
              <a:srgbClr val="C7D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148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81"/>
                </a:solidFill>
              </a:rPr>
              <a:t>3. Один проход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2523744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2F"/>
                </a:solidFill>
              </a:rPr>
              <a:t>сравнить arr[i] и arr[i+gap]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12F"/>
                </a:solidFill>
              </a:rPr>
              <a:t>при необходимости обменять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89720" y="196596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3F0FA"/>
          </a:solidFill>
          <a:ln w="12700">
            <a:solidFill>
              <a:srgbClr val="C7D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2148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81"/>
                </a:solidFill>
              </a:rPr>
              <a:t>4. Завершение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26880" y="2523744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2F"/>
                </a:solidFill>
              </a:rPr>
              <a:t>повторять, пока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12F"/>
                </a:solidFill>
              </a:rPr>
              <a:t>gap &gt; 1 или были обмены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0120" y="4480560"/>
            <a:ext cx="102412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47365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2F"/>
                </a:solidFill>
              </a:rPr>
              <a:t>Итог: Comb sort уменьшает число «длинных перемещений» по одному шагу и поэтому обычно работает заметно быстрее bubble sort, хотя остаётся простым алгоритмом сортировки на месте.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 на Python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проекта и ключевой фрагмент алгоритма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3703320" cy="448056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82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</a:rPr>
              <a:t>Структура проекта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</a:rPr>
              <a:t>comb_sort.py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</a:rPr>
              <a:t>• функция сортировки и подсчёт шагов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</a:rPr>
              <a:t>generate_data.py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</a:rPr>
              <a:t>• генерация 100 файлов со случайными массивами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</a:rPr>
              <a:t>main.py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</a:rPr>
              <a:t>• чтение данных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</a:rPr>
              <a:t>• замер времени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</a:rPr>
              <a:t>• запись результатов в CSV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</a:rPr>
              <a:t>• подготовка графиков для отчёта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0" y="1444752"/>
            <a:ext cx="7040880" cy="4480560"/>
          </a:xfrm>
          <a:prstGeom prst="roundRect">
            <a:avLst>
              <a:gd name="adj" fmla="val 1633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682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Фрагмент кода comb_sort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2029968"/>
            <a:ext cx="6446520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comb_sort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gap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shrink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swapped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comparisons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swaps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gap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swapped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gap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shrink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gap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gap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swapped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comparisons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arr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swaps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swapped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comparisons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swaps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comparisons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swaps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Методика эксперимента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собираются данные для таблицы и графиков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11018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67712" y="3063240"/>
            <a:ext cx="1005840" cy="0"/>
          </a:xfrm>
          <a:prstGeom prst="line">
            <a:avLst/>
          </a:prstGeom>
          <a:noFill/>
          <a:ln w="12700">
            <a:solidFill>
              <a:srgbClr val="9EB7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983480" y="3063240"/>
            <a:ext cx="1005840" cy="0"/>
          </a:xfrm>
          <a:prstGeom prst="line">
            <a:avLst/>
          </a:prstGeom>
          <a:noFill/>
          <a:ln w="12700">
            <a:solidFill>
              <a:srgbClr val="9EB7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699248" y="3063240"/>
            <a:ext cx="1005840" cy="0"/>
          </a:xfrm>
          <a:prstGeom prst="line">
            <a:avLst/>
          </a:prstGeom>
          <a:noFill/>
          <a:ln w="12700">
            <a:solidFill>
              <a:srgbClr val="9EB7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41248" y="224028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EAF2FB"/>
          </a:solidFill>
          <a:ln w="12700">
            <a:solidFill>
              <a:srgbClr val="C7D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4505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81"/>
                </a:solidFill>
              </a:rPr>
              <a:t>1. Генерация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27706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6212F"/>
                </a:solidFill>
              </a:rPr>
              <a:t>100 файлов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6212F"/>
                </a:solidFill>
              </a:rPr>
              <a:t>размер: 100…10 000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6212F"/>
                </a:solidFill>
              </a:rPr>
              <a:t>случайные целые числа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557016" y="224028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0F7F3"/>
          </a:solidFill>
          <a:ln w="12700">
            <a:solidFill>
              <a:srgbClr val="C7D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24505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81"/>
                </a:solidFill>
              </a:rPr>
              <a:t>2. Чтение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03320" y="27706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6212F"/>
                </a:solidFill>
              </a:rPr>
              <a:t>массив считывается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6212F"/>
                </a:solidFill>
              </a:rPr>
              <a:t>из файла до начала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6212F"/>
                </a:solidFill>
              </a:rPr>
              <a:t>измерений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72784" y="224028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FF5EA"/>
          </a:solidFill>
          <a:ln w="12700">
            <a:solidFill>
              <a:srgbClr val="C7D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4505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81"/>
                </a:solidFill>
              </a:rPr>
              <a:t>3. Сортировка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19088" y="27706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6212F"/>
                </a:solidFill>
              </a:rPr>
              <a:t>время: time.perf_counter()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6212F"/>
                </a:solidFill>
              </a:rPr>
              <a:t>счётчики: comparisons, swaps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988552" y="224028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3F0FA"/>
          </a:solidFill>
          <a:ln w="12700">
            <a:solidFill>
              <a:srgbClr val="C7D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16568" y="24505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81"/>
                </a:solidFill>
              </a:rPr>
              <a:t>4. Сохранение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34856" y="277063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6212F"/>
                </a:solidFill>
              </a:rPr>
              <a:t>results.csv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6212F"/>
                </a:solidFill>
              </a:rPr>
              <a:t>график времени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16212F"/>
                </a:solidFill>
              </a:rPr>
              <a:t>график шагов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4400" y="44348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2F"/>
                </a:solidFill>
              </a:rPr>
              <a:t>Важно: по условию работы в измерение времени не включается чтение массива из файла. Количество шагов удобно считать как сумму comparisons + swaps.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сложности и особенности алгоритма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Теоретическая часть, с которой сравниваются практические графики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45720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0" y="1444752"/>
            <a:ext cx="62179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</a:rPr>
              <a:t>Сложность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1508760" cy="713232"/>
          </a:xfrm>
          <a:prstGeom prst="rect">
            <a:avLst/>
          </a:prstGeom>
          <a:solidFill>
            <a:srgbClr val="EEF5FB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210312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2677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12F"/>
                </a:solidFill>
              </a:rPr>
              <a:t>Худший случай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505456" y="22128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6212F"/>
                </a:solidFill>
              </a:rPr>
              <a:t>O(n²)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2834640"/>
            <a:ext cx="1508760" cy="713232"/>
          </a:xfrm>
          <a:prstGeom prst="rect">
            <a:avLst/>
          </a:prstGeom>
          <a:solidFill>
            <a:srgbClr val="F7FA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283464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9992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12F"/>
                </a:solidFill>
              </a:rPr>
              <a:t>Средний случай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505456" y="29443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6212F"/>
                </a:solidFill>
              </a:rPr>
              <a:t>практически лучше bubble sort,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6212F"/>
                </a:solidFill>
              </a:rPr>
              <a:t>но обычно рассматривается как O(n²)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3566160"/>
            <a:ext cx="1508760" cy="713232"/>
          </a:xfrm>
          <a:prstGeom prst="rect">
            <a:avLst/>
          </a:prstGeom>
          <a:solidFill>
            <a:srgbClr val="EEF5FB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356616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37307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12F"/>
                </a:solidFill>
              </a:rPr>
              <a:t>Лучший случай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505456" y="36758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6212F"/>
                </a:solidFill>
              </a:rPr>
              <a:t>зависит от данных; может быть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6212F"/>
                </a:solidFill>
              </a:rPr>
              <a:t>близок к O(n log n)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68680" y="4297680"/>
            <a:ext cx="1508760" cy="713232"/>
          </a:xfrm>
          <a:prstGeom prst="rect">
            <a:avLst/>
          </a:prstGeom>
          <a:solidFill>
            <a:srgbClr val="F7FA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429768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44622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12F"/>
                </a:solidFill>
              </a:rPr>
              <a:t>Память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505456" y="44074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6212F"/>
                </a:solidFill>
              </a:rPr>
              <a:t>O(1), сортировка на месте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69280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</a:rPr>
              <a:t>Что ожидается на практике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50992" y="2103120"/>
            <a:ext cx="544068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ростом размера массива время выполнения увеличивается нелинейно;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 шагов также возрастает быстрее, чем линейная функция;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на случайных данных обычно получаются более плавными, если использовать много тестов;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 sort прост в реализации и быстрее bubble sort, но уступает более эффективным алгоритмам вроде quick sort или merge sort на больших объёмах данных.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897880" y="5074920"/>
            <a:ext cx="4480560" cy="-1371600"/>
          </a:xfrm>
          <a:prstGeom prst="line">
            <a:avLst/>
          </a:prstGeom>
          <a:noFill/>
          <a:ln w="12700">
            <a:solidFill>
              <a:srgbClr val="3E7CB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97880" y="5074920"/>
            <a:ext cx="4480560" cy="-365760"/>
          </a:xfrm>
          <a:prstGeom prst="line">
            <a:avLst/>
          </a:prstGeom>
          <a:noFill/>
          <a:ln w="12700">
            <a:solidFill>
              <a:srgbClr val="C8D4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3"/>
                </a:solidFill>
              </a:rPr>
              <a:t>ожидаемая форма роста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5B6573"/>
                </a:solidFill>
              </a:rPr>
              <a:t>времени и числа шагов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эксперимента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запуска программы сюда удобно вставить готовые графики и короткий комментарий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81"/>
                </a:solidFill>
              </a:rPr>
              <a:t>Что показать на этом слайде: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29260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строки из таблицы results.csv;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 time_graph.png;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 steps_graph.png;</a:t>
            </a:r>
            <a:pPr indent="0" marL="0">
              <a:buNone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предложения с выводом по графикам.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749040" y="1691640"/>
            <a:ext cx="3383280" cy="2011680"/>
          </a:xfrm>
          <a:prstGeom prst="roundRect">
            <a:avLst>
              <a:gd name="adj" fmla="val 2727"/>
            </a:avLst>
          </a:prstGeom>
          <a:solidFill>
            <a:srgbClr val="F9FBFE"/>
          </a:solidFill>
          <a:ln w="12700">
            <a:solidFill>
              <a:srgbClr val="9EB7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691640"/>
            <a:ext cx="3383280" cy="2011680"/>
          </a:xfrm>
          <a:prstGeom prst="roundRect">
            <a:avLst>
              <a:gd name="adj" fmla="val 2727"/>
            </a:avLst>
          </a:prstGeom>
          <a:solidFill>
            <a:srgbClr val="F9FBFE"/>
          </a:solidFill>
          <a:ln w="12700">
            <a:solidFill>
              <a:srgbClr val="9EB7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24688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B6573"/>
                </a:solidFill>
              </a:rPr>
              <a:t>Вставить time_graph.png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58200" y="24688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B6573"/>
                </a:solidFill>
              </a:rPr>
              <a:t>Вставить steps_graph.png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160520"/>
            <a:ext cx="107899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49884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6212F"/>
                </a:solidFill>
              </a:rPr>
              <a:t>Пример комментария: «При увеличении размера массива время выполнения и количество шагов возрастают. Практические результаты в целом согласуются с теоретической оценкой сложности Comb sort».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Краткий итог работы и что можно сказать на защите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481328"/>
            <a:ext cx="10972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28800"/>
            <a:ext cx="1033272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работе реализован алгоритм сортировки Comb sort на языке Python.</a:t>
            </a:r>
            <a:pPr indent="0" marL="0">
              <a:buNone/>
            </a:pPr>
            <a:r>
              <a:rPr lang="en-US" sz="18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Сформировано 100 файлов со случайными массивами размером от 100 до 10 000 элементов.</a:t>
            </a:r>
            <a:pPr indent="0" marL="0">
              <a:buNone/>
            </a:pPr>
            <a:r>
              <a:rPr lang="en-US" sz="18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сортировкой данные считываются из файла, а время измеряется только для самой сортировки, что соответствует условию задания.</a:t>
            </a:r>
            <a:pPr indent="0" marL="0">
              <a:buNone/>
            </a:pPr>
            <a:r>
              <a:rPr lang="en-US" sz="18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Количество шагов определялось как сумма числа сравнений и числа обменов: steps = comparisons + swaps.</a:t>
            </a:r>
            <a:pPr indent="0" marL="0">
              <a:buNone/>
            </a:pPr>
            <a:r>
              <a:rPr lang="en-US" sz="18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результатам эксперимента строятся графики зависимости времени и количества шагов от размера входных данных.</a:t>
            </a:r>
            <a:pPr indent="0" marL="0">
              <a:buNone/>
            </a:pPr>
            <a:r>
              <a:rPr lang="en-US" sz="18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Практические результаты должны подтвердить, что Comb sort работает быстрее bubble sort, но в общем случае остаётся алгоритмом с квадратичной оценкой времени.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источников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Источники, которые можно указать в отчёте и на последнем слайде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481328"/>
            <a:ext cx="10972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996696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2F"/>
                </a:solidFill>
              </a:rPr>
              <a:t>1. </a:t>
            </a:r>
            <a:pPr indent="0" marL="0">
              <a:buNone/>
            </a:pPr>
            <a:r>
              <a:rPr lang="en-US" sz="1900" dirty="0">
                <a:solidFill>
                  <a:srgbClr val="16212F"/>
                </a:solidFill>
              </a:rPr>
              <a:t>Python Software Foundation. Документация Python: модуль time.</a:t>
            </a:r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6212F"/>
                </a:solidFill>
              </a:rPr>
              <a:t>2. 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6212F"/>
                </a:solidFill>
              </a:rPr>
              <a:t>Wikipedia. Comb sort.</a:t>
            </a:r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6212F"/>
                </a:solidFill>
              </a:rPr>
              <a:t>3. 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6212F"/>
                </a:solidFill>
              </a:rPr>
              <a:t>GeeksforGeeks. Comb Sort.</a:t>
            </a:r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6212F"/>
                </a:solidFill>
              </a:rPr>
              <a:t>4. 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6212F"/>
                </a:solidFill>
              </a:rPr>
              <a:t>Lacey S., Box R. A Fast, Easy Sort // Byte Magazine, 1991.</a:t>
            </a:r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6212F"/>
                </a:solidFill>
              </a:rPr>
              <a:t>5. 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6212F"/>
                </a:solidFill>
              </a:rPr>
              <a:t>Dobosiewicz W. An Efficient Variation of Bubble Sort // Information Processing Letters, 1980.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47091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573"/>
                </a:solidFill>
              </a:rPr>
              <a:t>Совет: если преподаватель просит только электронные источники, можно оставить первые три пункта и добавить ссылку на ваш репозиторий или архив с кодом.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00800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Семестровая работа №2 — Comb sort</dc:title>
  <dc:subject>Семестровая работа №2 — Comb sort</dc:subject>
  <dc:creator>OpenAI</dc:creator>
  <cp:lastModifiedBy>OpenAI</cp:lastModifiedBy>
  <cp:revision>1</cp:revision>
  <dcterms:created xsi:type="dcterms:W3CDTF">2026-04-11T18:59:07Z</dcterms:created>
  <dcterms:modified xsi:type="dcterms:W3CDTF">2026-04-11T18:59:07Z</dcterms:modified>
</cp:coreProperties>
</file>